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5877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910861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6/2/2026</a:t>
            </a:fld>
            <a:endParaRPr lang="en-US"/>
          </a:p>
        </p:txBody>
      </p:sp>
      <p:sp>
        <p:nvSpPr>
          <p:cNvPr id="48151485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03384355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363756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69439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AA8BC-CBB3-9284-E5F3-A82A2E9853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7494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0921698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83098774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883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6989875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493091915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470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048403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52700800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977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3479563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0887226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2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8309461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576031163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5395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33088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9690206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6/2/2026</a:t>
            </a:fld>
            <a:endParaRPr lang="en-US"/>
          </a:p>
        </p:txBody>
      </p:sp>
      <p:sp>
        <p:nvSpPr>
          <p:cNvPr id="14305219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555533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9812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52405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531985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6/2/2026</a:t>
            </a:fld>
            <a:endParaRPr lang="en-US"/>
          </a:p>
        </p:txBody>
      </p:sp>
      <p:sp>
        <p:nvSpPr>
          <p:cNvPr id="18465781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4676113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954392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889902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1710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6/2/2026</a:t>
            </a:fld>
            <a:endParaRPr lang="en-US"/>
          </a:p>
        </p:txBody>
      </p:sp>
      <p:sp>
        <p:nvSpPr>
          <p:cNvPr id="2310527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797671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044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951056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185810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466214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6/2/2026</a:t>
            </a:fld>
            <a:endParaRPr lang="en-US"/>
          </a:p>
        </p:txBody>
      </p:sp>
      <p:sp>
        <p:nvSpPr>
          <p:cNvPr id="732291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6349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9815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61659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52807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9229606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33876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30401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6/2/2026</a:t>
            </a:fld>
            <a:endParaRPr lang="en-US"/>
          </a:p>
        </p:txBody>
      </p:sp>
      <p:sp>
        <p:nvSpPr>
          <p:cNvPr id="17363441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392422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857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762753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6/2/2026</a:t>
            </a:fld>
            <a:endParaRPr lang="en-US"/>
          </a:p>
        </p:txBody>
      </p:sp>
      <p:sp>
        <p:nvSpPr>
          <p:cNvPr id="20645862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129618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688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6/2/2026</a:t>
            </a:fld>
            <a:endParaRPr lang="en-US"/>
          </a:p>
        </p:txBody>
      </p:sp>
      <p:sp>
        <p:nvSpPr>
          <p:cNvPr id="7168853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587633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121948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4144169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959841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5043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6/2/2026</a:t>
            </a:fld>
            <a:endParaRPr lang="en-US"/>
          </a:p>
        </p:txBody>
      </p:sp>
      <p:sp>
        <p:nvSpPr>
          <p:cNvPr id="490038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671655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569273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7271936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18348832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34496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6/2/2026</a:t>
            </a:fld>
            <a:endParaRPr lang="en-US"/>
          </a:p>
        </p:txBody>
      </p:sp>
      <p:sp>
        <p:nvSpPr>
          <p:cNvPr id="14476153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204362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3811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915476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049792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6/2/2026</a:t>
            </a:fld>
            <a:endParaRPr lang="en-US"/>
          </a:p>
        </p:txBody>
      </p:sp>
      <p:sp>
        <p:nvSpPr>
          <p:cNvPr id="12826740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41200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92971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4086272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996971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6/2/2026</a:t>
            </a:fld>
            <a:endParaRPr lang="en-US"/>
          </a:p>
        </p:txBody>
      </p:sp>
      <p:sp>
        <p:nvSpPr>
          <p:cNvPr id="14521310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1515684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932622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60818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28226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6/2/2026</a:t>
            </a:fld>
            <a:endParaRPr lang="en-US"/>
          </a:p>
        </p:txBody>
      </p:sp>
      <p:sp>
        <p:nvSpPr>
          <p:cNvPr id="120911714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5752932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18840662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7584175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640766319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205284310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22252245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150008226" name="TextBox 9"/>
          <p:cNvSpPr txBox="1"/>
          <p:nvPr/>
        </p:nvSpPr>
        <p:spPr bwMode="auto"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ID – 26021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Title- [Add your official Problem Statement Title from the SIH portal]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Theme- Agriculture, FoodTech &amp; Rural Development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PS Category- Software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ID- 1111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Name (Registered on portal) – 8bit</a:t>
            </a:r>
            <a:endParaRPr lang="en-IN" sz="2400" b="1">
              <a:latin typeface="Arial"/>
              <a:cs typeface="Arial"/>
            </a:endParaRPr>
          </a:p>
        </p:txBody>
      </p:sp>
      <p:pic>
        <p:nvPicPr>
          <p:cNvPr id="848787577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432134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260325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17351" y="-4235"/>
            <a:ext cx="7882381" cy="881289"/>
          </a:xfrm>
        </p:spPr>
        <p:txBody>
          <a:bodyPr/>
          <a:lstStyle/>
          <a:p>
            <a:pPr>
              <a:defRPr/>
            </a:pP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HONEYCHAIN – HONEY TRACEABILITY</a:t>
            </a:r>
            <a:endParaRPr/>
          </a:p>
        </p:txBody>
      </p:sp>
      <p:sp>
        <p:nvSpPr>
          <p:cNvPr id="625352993" name="TextBox 8"/>
          <p:cNvSpPr txBox="1">
            <a:spLocks noChangeArrowheads="1"/>
          </p:cNvSpPr>
          <p:nvPr/>
        </p:nvSpPr>
        <p:spPr bwMode="auto">
          <a:xfrm>
            <a:off x="0" y="1169004"/>
            <a:ext cx="12194518" cy="51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  <a:defRPr/>
            </a:pPr>
            <a:r>
              <a:rPr lang="en-US" sz="3200" b="1" u="sng">
                <a:solidFill>
                  <a:schemeClr val="tx2"/>
                </a:solidFill>
                <a:latin typeface="Arial"/>
                <a:cs typeface="Arial"/>
              </a:rPr>
              <a:t>Proposed Solution (Describe your Idea/Solution/Prototype)</a:t>
            </a:r>
            <a:endParaRPr lang="en-US" sz="3200" u="sng">
              <a:solidFill>
                <a:schemeClr val="tx2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en-US" sz="2000" b="1">
                <a:latin typeface="Arial"/>
                <a:cs typeface="Arial"/>
              </a:rPr>
              <a:t>Detailed explanation of the proposed solution: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Honeychain is a beekeeping-management and honey-traceability MVP: a beekeeper registers an apiary and hives, harvests a batch, and records it moving through processing and quality verification.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An admin approves the quality check and packages the batch, which mints a QR code – anyone who scans it opens a public page showing that batch’s complete history.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Every stage on that page is independently re-checked against a blockchain record at the moment the page loads, not just read out of a database that could, in principle, be edited.</a:t>
            </a:r>
            <a:endParaRPr/>
          </a:p>
          <a:p>
            <a:pPr algn="just">
              <a:defRPr/>
            </a:pPr>
            <a:r>
              <a:rPr lang="en-US" sz="2000" b="1">
                <a:latin typeface="Arial"/>
                <a:cs typeface="Arial"/>
              </a:rPr>
              <a:t>How it addresses the problem: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Postgres holds the real data; the blockchain holds only a content hash per stage – enough to prove Postgres hasn’t been tampered with, without the cost of an on-chain database.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No user ever needs a wallet, seed phrase, or gas fee: one backend-held relayer key signs every transaction on behalf of beekeepers, admins, and consumers.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One QR code gives any consumer instant, self-verifiable proof of a jar’s real origin and handling – no login, no app install, no trust required.</a:t>
            </a:r>
            <a:endParaRPr/>
          </a:p>
          <a:p>
            <a:pPr algn="just">
              <a:defRPr/>
            </a:pPr>
            <a:r>
              <a:rPr lang="en-US" sz="2000" b="1">
                <a:latin typeface="Arial"/>
                <a:cs typeface="Arial"/>
              </a:rPr>
              <a:t>Innovation and uniqueness of the solution: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Dual-write hashing: one canonical hash is computed once per event and written to Postgres and the smart contract in the same call, so the two copies can never silently drift apart.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Live re-verification, not a static badge – the public trace page recomputes and checks every stage’s hash against the chain on every single page load.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One complete, working, end-to-end flow (harvest → process → quality-check → package → verify), proven with 8/8 contract tests, 4/4 backend tests, and 0 client lint issues.</a:t>
            </a:r>
            <a:endParaRPr/>
          </a:p>
        </p:txBody>
      </p:sp>
      <p:sp>
        <p:nvSpPr>
          <p:cNvPr id="17877457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6405169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042255615" name="Oval 9" descr="Your startup LOGO"/>
          <p:cNvSpPr/>
          <p:nvPr/>
        </p:nvSpPr>
        <p:spPr bwMode="auto">
          <a:xfrm>
            <a:off x="329772" y="25224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8bit</a:t>
            </a:r>
            <a:endParaRPr lang="en-IN"/>
          </a:p>
        </p:txBody>
      </p:sp>
      <p:pic>
        <p:nvPicPr>
          <p:cNvPr id="2125952374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921546" y="48653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0153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36107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2044438362" name="TextBox 8"/>
          <p:cNvSpPr txBox="1">
            <a:spLocks noChangeArrowheads="1"/>
          </p:cNvSpPr>
          <p:nvPr/>
        </p:nvSpPr>
        <p:spPr bwMode="auto">
          <a:xfrm>
            <a:off x="609599" y="1307662"/>
            <a:ext cx="9386379" cy="478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b="1">
                <a:latin typeface="Arial"/>
                <a:cs typeface="Arial"/>
              </a:rPr>
              <a:t>Technologies to be used (e.g. programming languages, frameworks, hardware):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Client: Flutter Web (Dart) – one codebase for the beekeeper, admin, and public trace UIs (go_router, provider, graphql_flutter).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API &amp; backend: Django 6 + Strawberry GraphQL (hand-written schema) on PostgreSQL 18 – the system of record for all application data.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Blockchain: Solidity ^0.8.24 smart contract (HoneyChainRegistry.sol), built and tested with Hardhat 2, signed via web3.py from one backend-held relayer key.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Supporting: PyJWT for authentication; qrcode + Pillow to generate the QR code the instant a batch is packaged.</a:t>
            </a:r>
            <a:endParaRPr/>
          </a:p>
          <a:p>
            <a:pPr algn="just">
              <a:defRPr/>
            </a:pPr>
            <a:endParaRPr/>
          </a:p>
          <a:p>
            <a:pPr algn="just">
              <a:defRPr/>
            </a:pPr>
            <a:r>
              <a:rPr lang="en-US" sz="2000" b="1">
                <a:latin typeface="Arial"/>
                <a:cs typeface="Arial"/>
              </a:rPr>
              <a:t>Methodology and process for implementation (Flow Charts/Images/ working prototype):</a:t>
            </a:r>
            <a:endParaRPr lang="en-US" sz="2000" b="1">
              <a:latin typeface="Arial"/>
              <a:cs typeface="Arial"/>
            </a:endParaRPr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A honey batch moves through a 4-stage state machine: HARVESTED → PROCESSED → QUALITY_CHECKED → PACKAGED.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Each transition is one GraphQL mutation that, in a single call, writes one event row to Postgres and sends one confirmed transaction to the smart contract.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Packaging generates a QR code linking to a public trace page, which re-verifies every stage’s hash against the chain live, on every page load.</a:t>
            </a:r>
            <a:endParaRPr/>
          </a:p>
          <a:p>
            <a:pPr marL="342900" indent="-342900" algn="just">
              <a:buFont typeface="Arial"/>
              <a:buChar char="•"/>
              <a:defRPr/>
            </a:pPr>
            <a:r>
              <a:rPr lang="en-US" sz="1400">
                <a:latin typeface="Arial"/>
                <a:cs typeface="Arial"/>
              </a:rPr>
              <a:t>Working prototype, fully running end-to-end: 8/8 Hardhat contract tests, 4/4 Django model tests, 0 flutter analyze issues – walked through by hand in both the beekeeper and admin roles.</a:t>
            </a:r>
            <a:endParaRPr/>
          </a:p>
        </p:txBody>
      </p:sp>
      <p:sp>
        <p:nvSpPr>
          <p:cNvPr id="2008692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96218532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56546479" name="Oval 10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8bit</a:t>
            </a:r>
            <a:endParaRPr lang="en-IN"/>
          </a:p>
        </p:txBody>
      </p:sp>
      <p:pic>
        <p:nvPicPr>
          <p:cNvPr id="1619897210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9572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1525450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579317967" name="TextBox 8"/>
          <p:cNvSpPr txBox="1">
            <a:spLocks noChangeArrowheads="1"/>
          </p:cNvSpPr>
          <p:nvPr/>
        </p:nvSpPr>
        <p:spPr bwMode="auto">
          <a:xfrm flipH="0" flipV="0">
            <a:off x="609599" y="1354816"/>
            <a:ext cx="10597548" cy="4694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prstClr val="black"/>
                </a:solidFill>
                <a:latin typeface="Arial"/>
                <a:cs typeface="Arial"/>
              </a:rPr>
              <a:t>Analysis of the feasibility of the idea: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Technically proven, not just proposed: every layer is working code today, tested against a live PostgreSQL database and a local EVM-compatible testnet.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Built entirely on standard, widely-supported technology (Django, PostgreSQL, Solidity, Flutter) – no exotic dependencies and no custom blockchain to build or maintain.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Moving from the local test chain to a public one (e.g. Sepolia, Polygon Amoy) is a 3-environment-variable change, not a rewrite.</a:t>
            </a:r>
            <a:endParaRPr/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/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prstClr val="black"/>
                </a:solidFill>
                <a:latin typeface="Arial"/>
                <a:cs typeface="Arial"/>
              </a:rPr>
              <a:t>Potential challenges and risks:</a:t>
            </a:r>
            <a:endParaRPr lang="en-US" sz="2000" b="1">
              <a:solidFill>
                <a:prstClr val="black"/>
              </a:solidFill>
              <a:latin typeface="Arial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Single relayer key: nonce management currently assumes one writer – a production deployment would need a proper multi-node nonce queue.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No reject/retry flow yet for a failed quality check; the batch simply stays at PROCESSED.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Real-world impact depends on adoption – beekeepers consistently logging each stage, and consumers actually being told to scan the QR.</a:t>
            </a:r>
            <a:endParaRPr/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Strategies for overcoming these challenges:</a:t>
            </a:r>
            <a:endParaRPr lang="en-US" sz="2000" b="1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Add a managed nonce queue / dedicated signer service before any multi-writer or production deployment.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Add an explicit reject/retry mutation so a failed quality check loops the batch back to PROCESSED instead of stalling.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Print the QR directly on the packaging with a one-line “scan to verify” prompt, so verification takes zero extra effort from the consumer.</a:t>
            </a:r>
            <a:endParaRPr/>
          </a:p>
        </p:txBody>
      </p:sp>
      <p:sp>
        <p:nvSpPr>
          <p:cNvPr id="8200263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2645569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885402926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8bit</a:t>
            </a:r>
            <a:endParaRPr lang="en-IN"/>
          </a:p>
        </p:txBody>
      </p:sp>
      <p:pic>
        <p:nvPicPr>
          <p:cNvPr id="1665478551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4255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2026858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1834284946" name="TextBox 8"/>
          <p:cNvSpPr txBox="1">
            <a:spLocks noChangeArrowheads="1"/>
          </p:cNvSpPr>
          <p:nvPr/>
        </p:nvSpPr>
        <p:spPr bwMode="auto">
          <a:xfrm>
            <a:off x="609599" y="1449123"/>
            <a:ext cx="9386379" cy="332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Potential impact on the target audience: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Consumers get instant, self-serve proof of a honey jar’s real origin and handling – no account, no wallet, just a QR scan.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Beekeepers gain a lightweight digital record of their own harvest → processing → quality → packaging pipeline, with no extra hardware to buy.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ＭＳ Ｐゴシック"/>
                <a:cs typeface="Arial"/>
              </a:rPr>
              <a:t>Buyers, regulators, and cooperatives get an audit trail that cannot be quietly edited after the fact.</a:t>
            </a:r>
            <a:endParaRPr/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/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prstClr val="black"/>
                </a:solidFill>
                <a:latin typeface="Arial"/>
                <a:cs typeface="Arial"/>
              </a:rPr>
              <a:t>Benefits of the solution (social, economic, environmental, etc.):</a:t>
            </a:r>
            <a:endParaRPr lang="en-US" sz="2000" b="1">
              <a:solidFill>
                <a:prstClr val="black"/>
              </a:solidFill>
              <a:latin typeface="Arial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Social: builds direct trust between small beekeepers and consumers, and pushes back against honey adulteration and mislabeling.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Economic: verified provenance lets genuine, small-scale beekeepers differentiate their honey and justify fair pricing.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Environmental: traceable sourcing creates an incentive to document – and eventually reward – sustainable, pesticide-conscious apiary practices.</a:t>
            </a:r>
            <a:endParaRPr/>
          </a:p>
        </p:txBody>
      </p:sp>
      <p:sp>
        <p:nvSpPr>
          <p:cNvPr id="14362649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516656650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867330907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8bit</a:t>
            </a:r>
            <a:endParaRPr lang="en-IN"/>
          </a:p>
        </p:txBody>
      </p:sp>
      <p:pic>
        <p:nvPicPr>
          <p:cNvPr id="2043474332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84467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1558282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673770219" name="TextBox 8"/>
          <p:cNvSpPr txBox="1">
            <a:spLocks noChangeArrowheads="1"/>
          </p:cNvSpPr>
          <p:nvPr/>
        </p:nvSpPr>
        <p:spPr bwMode="auto">
          <a:xfrm>
            <a:off x="609599" y="1474965"/>
            <a:ext cx="9385659" cy="210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>
                <a:solidFill>
                  <a:prstClr val="black"/>
                </a:solidFill>
                <a:latin typeface="Arial"/>
                <a:cs typeface="Arial"/>
              </a:rPr>
              <a:t>Details / Links of the reference and research work: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Context: honey adulteration and mislabeling is a well-documented food-safety concern (e.g. FSSAI testing drives in India); blockchain-based traceability follows precedent set by supply-chain systems such as IBM Food Trust.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Solidity ^0.8.24 / Hardhat 2 (hardhat-toolbox) – hardhat.org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Django 6.1 + Strawberry GraphQL 0.327 – strawberry.rocks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web3.py 8.0 (Python Ethereum client) – web3py.readthedocs.io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Flutter Web 3.44 / Dart 3.12 – flutter.dev</a:t>
            </a:r>
            <a:endParaRPr/>
          </a:p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rial"/>
                <a:cs typeface="Arial"/>
              </a:rPr>
              <a:t>Full technical write-up: project repository documentation (honeychain-overview.html), included with this submission.</a:t>
            </a:r>
            <a:endParaRPr/>
          </a:p>
        </p:txBody>
      </p:sp>
      <p:sp>
        <p:nvSpPr>
          <p:cNvPr id="5502663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2076586783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748193969" name="Oval 8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8bit</a:t>
            </a:r>
            <a:endParaRPr lang="en-IN"/>
          </a:p>
        </p:txBody>
      </p:sp>
      <p:pic>
        <p:nvPicPr>
          <p:cNvPr id="1696465815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149</cp:revision>
  <dcterms:created xsi:type="dcterms:W3CDTF">2013-12-12T18:46:50Z</dcterms:created>
  <dcterms:modified xsi:type="dcterms:W3CDTF">2026-09-02T05:54:26Z</dcterms:modified>
  <cp:category/>
</cp:coreProperties>
</file>